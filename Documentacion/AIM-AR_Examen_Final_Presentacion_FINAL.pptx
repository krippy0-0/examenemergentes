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843f0c256a4993" /><Relationship Type="http://schemas.openxmlformats.org/officeDocument/2006/relationships/extended-properties" Target="/docProps/app.xml" Id="Ra4a4137a22334715" /><Relationship Type="http://schemas.openxmlformats.org/officeDocument/2006/relationships/officeDocument" Target="/ppt/presentation.xml" Id="Rd8ba6636172c4f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c9793f8bf2477d"/>
  </p:sldMasterIdLst>
  <p:notesMasterIdLst>
    <p:notesMasterId xmlns:r="http://schemas.openxmlformats.org/officeDocument/2006/relationships" r:id="R270c854d13954ce3"/>
  </p:notesMasterIdLst>
  <p:sldIdLst>
    <p:sldId xmlns:r="http://schemas.openxmlformats.org/officeDocument/2006/relationships" id="256" r:id="Rfbb19c6f93aa4466"/>
    <p:sldId xmlns:r="http://schemas.openxmlformats.org/officeDocument/2006/relationships" id="257" r:id="Rbaffa8e7745345fc"/>
    <p:sldId xmlns:r="http://schemas.openxmlformats.org/officeDocument/2006/relationships" id="258" r:id="Rf6b58f2e5d444a8e"/>
    <p:sldId xmlns:r="http://schemas.openxmlformats.org/officeDocument/2006/relationships" id="259" r:id="Rea867243afc844c6"/>
    <p:sldId xmlns:r="http://schemas.openxmlformats.org/officeDocument/2006/relationships" id="260" r:id="R14f09127682e400f"/>
    <p:sldId xmlns:r="http://schemas.openxmlformats.org/officeDocument/2006/relationships" id="261" r:id="R89948e5daf494199"/>
    <p:sldId xmlns:r="http://schemas.openxmlformats.org/officeDocument/2006/relationships" id="262" r:id="R26b84e8c8dcf423c"/>
    <p:sldId xmlns:r="http://schemas.openxmlformats.org/officeDocument/2006/relationships" id="263" r:id="Rc615ee69114c4a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066da607cd46a9" /><Relationship Type="http://schemas.openxmlformats.org/officeDocument/2006/relationships/slideMaster" Target="/ppt/slideMasters/slideMaster1.xml" Id="R4dc9793f8bf2477d" /><Relationship Type="http://schemas.openxmlformats.org/officeDocument/2006/relationships/notesMaster" Target="/ppt/notesMasters/notesMaster1.xml" Id="R270c854d13954ce3" /><Relationship Type="http://schemas.openxmlformats.org/officeDocument/2006/relationships/presProps" Target="/ppt/presProps.xml" Id="Ra99a14d8402b48b9" /><Relationship Type="http://schemas.openxmlformats.org/officeDocument/2006/relationships/tableStyles" Target="/ppt/tableStyles.xml" Id="R0e076e97e2604706" /><Relationship Type="http://schemas.openxmlformats.org/officeDocument/2006/relationships/slide" Target="/ppt/slides/slide1.xml" Id="Rfbb19c6f93aa4466" /><Relationship Type="http://schemas.openxmlformats.org/officeDocument/2006/relationships/slide" Target="/ppt/slides/slide2.xml" Id="Rbaffa8e7745345fc" /><Relationship Type="http://schemas.openxmlformats.org/officeDocument/2006/relationships/slide" Target="/ppt/slides/slide3.xml" Id="Rf6b58f2e5d444a8e" /><Relationship Type="http://schemas.openxmlformats.org/officeDocument/2006/relationships/slide" Target="/ppt/slides/slide4.xml" Id="Rea867243afc844c6" /><Relationship Type="http://schemas.openxmlformats.org/officeDocument/2006/relationships/slide" Target="/ppt/slides/slide5.xml" Id="R14f09127682e400f" /><Relationship Type="http://schemas.openxmlformats.org/officeDocument/2006/relationships/slide" Target="/ppt/slides/slide6.xml" Id="R89948e5daf494199" /><Relationship Type="http://schemas.openxmlformats.org/officeDocument/2006/relationships/slide" Target="/ppt/slides/slide7.xml" Id="R26b84e8c8dcf423c" /><Relationship Type="http://schemas.openxmlformats.org/officeDocument/2006/relationships/slide" Target="/ppt/slides/slide8.xml" Id="Rc615ee69114c4a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34a41721724f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c9bfd7d2f742da" /><Relationship Type="http://schemas.openxmlformats.org/officeDocument/2006/relationships/notesMaster" Target="/ppt/notesMasters/notesMaster1.xml" Id="R4ff54e2d554c41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ad32b450524f19" /><Relationship Type="http://schemas.openxmlformats.org/officeDocument/2006/relationships/notesMaster" Target="/ppt/notesMasters/notesMaster1.xml" Id="R1c2c1ffdd8c547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8fb37bc1e44441" /><Relationship Type="http://schemas.openxmlformats.org/officeDocument/2006/relationships/notesMaster" Target="/ppt/notesMasters/notesMaster1.xml" Id="R02c38119d3854f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9ffc48b5294f01" /><Relationship Type="http://schemas.openxmlformats.org/officeDocument/2006/relationships/notesMaster" Target="/ppt/notesMasters/notesMaster1.xml" Id="R5f23951435d248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1301e0695843bc" /><Relationship Type="http://schemas.openxmlformats.org/officeDocument/2006/relationships/notesMaster" Target="/ppt/notesMasters/notesMaster1.xml" Id="R54bb4cb7275449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464f807e164927" /><Relationship Type="http://schemas.openxmlformats.org/officeDocument/2006/relationships/notesMaster" Target="/ppt/notesMasters/notesMaster1.xml" Id="R2a93411b6cda47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ef8ba7db474764" /><Relationship Type="http://schemas.openxmlformats.org/officeDocument/2006/relationships/notesMaster" Target="/ppt/notesMasters/notesMaster1.xml" Id="R64df48a1b65543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590a2b09d0490d" /><Relationship Type="http://schemas.openxmlformats.org/officeDocument/2006/relationships/notesMaster" Target="/ppt/notesMasters/notesMaster1.xml" Id="Rb9efc5527bb94d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Mattias: presentar AIM-AR como aplicación final y no como prototipo.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Propuesta inicial AIM-AR (documento del equipo).</a:t>
            </a:r>
          </a:p>
          <a:p xmlns:a="http://schemas.openxmlformats.org/drawingml/2006/main">
            <a:r>
              <a:t>- Implementación Unity AIM-AR, versión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Mattias: conectar el problema con accesibilidad y medición. No afirmar mejoras clínicas.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Propuesta inicial AIM-AR, secciones 2 y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Carlos: ARContent sigue al marcador durante Setup. Al confirmar, Plano conserva la pose y 360° recentra un cilindro mundial fijo.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GameManager.cs y TargetSpawner.cs, implementación Unity AIM-AR.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Carlos: comparar el campo frontal con el cilindro fijo. Explicar que Vuforia actualiza la ARCamera y WorldToScreenPoint alimenta las flechas.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TargetSpawner.cs y OffscreenTargetIndicator.cs, implementación Unity AIM-AR.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Carlos: recorrer el flujo. Citar LayerMask Target, Physics.RaycastAll, orden por distancia y GetComponentInParent&lt;Target&gt;().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ShooterController.cs, Target.cs, GameManager.cs y ScoreRepository.cs.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Ariel: mostrar hub, Plano adaptativo y 360°. Comprobar que un fallo no reubica; usar CANCELAR y conservar un video de respaldo.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Implementación Unity AIM-AR, versión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Ariel: explicar qué mide cada valor y qué se persiste.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GameManager.cs, Target.cs y ScoreRepository.cs.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Ariel: cerrar conectando la promesa inicial con lo demostrado. Abrir preguntas técnicas.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Propuesta inicial AIM-AR.</a:t>
            </a:r>
          </a:p>
          <a:p xmlns:a="http://schemas.openxmlformats.org/drawingml/2006/main">
            <a:r>
              <a:t>- Implementación Unity AIM-AR, versión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d8c8eaf7943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596c89efd34e6a" /><Relationship Type="http://schemas.openxmlformats.org/officeDocument/2006/relationships/slideLayout" Target="/ppt/slideLayouts/slideLayout1.xml" Id="R199e0969cfc94d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9e0969cfc94d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64639aef1448f" /><Relationship Type="http://schemas.openxmlformats.org/officeDocument/2006/relationships/notesSlide" Target="/ppt/notesSlides/notesSlide1.xml" Id="R308edb279dbf47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7f5dbc6d54990" /><Relationship Type="http://schemas.openxmlformats.org/officeDocument/2006/relationships/notesSlide" Target="/ppt/notesSlides/notesSlide2.xml" Id="Re656c66ccf2348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a0d5314d24693" /><Relationship Type="http://schemas.openxmlformats.org/officeDocument/2006/relationships/notesSlide" Target="/ppt/notesSlides/notesSlide3.xml" Id="R5412e0ec69ad4a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e28347c8043a9" /><Relationship Type="http://schemas.openxmlformats.org/officeDocument/2006/relationships/notesSlide" Target="/ppt/notesSlides/notesSlide4.xml" Id="R49bb15317b1b46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e3ea7840d4312" /><Relationship Type="http://schemas.openxmlformats.org/officeDocument/2006/relationships/notesSlide" Target="/ppt/notesSlides/notesSlide5.xml" Id="Rfc0846a4052347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5d6ce660d44e7" /><Relationship Type="http://schemas.openxmlformats.org/officeDocument/2006/relationships/notesSlide" Target="/ppt/notesSlides/notesSlide6.xml" Id="Rfbcc7837ff1b44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b677b50234cb5" /><Relationship Type="http://schemas.openxmlformats.org/officeDocument/2006/relationships/notesSlide" Target="/ppt/notesSlides/notesSlide7.xml" Id="R8ea8d3d3dfd642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f90455e2e4078" /><Relationship Type="http://schemas.openxmlformats.org/officeDocument/2006/relationships/notesSlide" Target="/ppt/notesSlides/notesSlide8.xml" Id="R89c07f70d8e342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3B819-143F-4594-BFC2-231B6388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3B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3B63"/>
                </a:solidFill>
                <a:latin typeface="Arial"/>
                <a:ea typeface="Arial"/>
                <a:cs typeface="Arial"/>
              </a:rPr>
              <a:t>EXAMEN FINAL · TECNOLOGÍAS EMERGENTES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E2EF5-63C3-41A4-B1E8-6F23E9A3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585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AIM-AR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82B0F-B731-4755-9408-73D8AE39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5095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Entrenador de puntería, atención y tiempo de reacción en Realidad Aumentada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B52FE-F3CB-4556-8A55-5BFDDF5C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388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438AE-76BB-45DB-A271-E9CBA4F6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B2D"/>
                </a:solidFill>
                <a:latin typeface="Arial"/>
                <a:ea typeface="Arial"/>
                <a:cs typeface="Arial"/>
              </a:rPr>
              <a:t>Mattias Morales · Carlos Orellana · Ariel Van Kilsdonk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70B87-EB11-4BD6-9C54-D421D5F2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Unity + Vuforia Engine · aplicación final para Android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07F5F-A3E0-4CB2-8C4E-D7626FB7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19150"/>
            <a:ext cx="4171950" cy="495300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C858D-D237-41B3-BF5E-879F6C85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657350"/>
            <a:ext cx="2247900" cy="224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3D2F"/>
          </a:solidFill>
          <a:ln xmlns:a="http://schemas.openxmlformats.org/drawingml/2006/main" w="9525">
            <a:solidFill>
              <a:srgbClr val="C63D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3E669-39E6-4E36-A072-DA71007D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418" y="2039493"/>
            <a:ext cx="1483614" cy="14836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EEA90-4F63-426D-B4EF-1AC22005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331720"/>
            <a:ext cx="899160" cy="899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3D2F"/>
          </a:solidFill>
          <a:ln xmlns:a="http://schemas.openxmlformats.org/drawingml/2006/main" w="9525">
            <a:solidFill>
              <a:srgbClr val="C63D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BBDC6-EBD4-454B-8D5B-8D46D8EB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154" y="2590229"/>
            <a:ext cx="382143" cy="3821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D7E55-E6F8-4ED2-970D-59EE12DF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62425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83B6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3B63"/>
                </a:solidFill>
                <a:latin typeface="Arial"/>
                <a:ea typeface="Arial"/>
                <a:cs typeface="Arial"/>
              </a:rPr>
              <a:t>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31440-69C9-4B40-9D47-61500C40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Marcador + cámara + entrenamiento medible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D0A70-ECBB-4E57-962B-08E5DA31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F0423-D892-4689-A49D-BF1D4149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AIM-AR · Tecnologías Emergentes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5E216-858E-4362-9BF7-59194D6A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092203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A3B9D-DD0E-45E2-AF79-89ABAC1E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3B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3B63"/>
                </a:solidFill>
                <a:latin typeface="Arial"/>
                <a:ea typeface="Arial"/>
                <a:cs typeface="Arial"/>
              </a:rPr>
              <a:t>PROBLEMA Y 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A7C2F-F59C-4394-B35F-BB51330D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Puntería móvil con movimiento y métricas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7C903-1D89-4B6C-8C6B-F285A956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0EB81-DEF5-4B8D-96E5-1E2A10D2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5000625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552F4-9EE4-4E53-B248-73046A8E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63D2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3D2F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195C9-D878-472E-A575-15D74707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40957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B2D"/>
                </a:solidFill>
                <a:latin typeface="Arial"/>
                <a:ea typeface="Arial"/>
                <a:cs typeface="Arial"/>
              </a:rPr>
              <a:t>• Entrenadores de escritorio: computador, mouse y puesto fijo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B2D"/>
                </a:solidFill>
                <a:latin typeface="Arial"/>
                <a:ea typeface="Arial"/>
                <a:cs typeface="Arial"/>
              </a:rPr>
              <a:t>• Realidad virtual: requiere un visor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B2D"/>
                </a:solidFill>
                <a:latin typeface="Arial"/>
                <a:ea typeface="Arial"/>
                <a:cs typeface="Arial"/>
              </a:rPr>
              <a:t>• Falta una alternativa móvil que use el espacio físico real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AE4FD-E10E-44ED-93F4-80F1F62A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47875"/>
            <a:ext cx="54483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DE3C8-B24B-4CF1-A3EE-2DEF2BE9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C9A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C9A84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71CB5-78C2-400A-80F5-59DACFFC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1940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Desarrollar una aplicación móvil en Unity que use RA basada en marcadores para entrenar coordinación ojo-mano, atención y reacción, entregando métricas comparables.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24781-A63B-4769-856B-547FFEAA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72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Smartphone + marcador impreso + feedback cuantitativo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20C62-B91E-4DB6-B23D-29226F0C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5D461-9D1B-4BFE-8B15-87FE523A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AIM-AR · Tecnologías Emergentes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2EEFB-4BD6-487C-A8FB-5860C729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1092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BE2389-686B-4798-8725-E642C71C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3B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3B63"/>
                </a:solidFill>
                <a:latin typeface="Arial"/>
                <a:ea typeface="Arial"/>
                <a:cs typeface="Arial"/>
              </a:rPr>
              <a:t>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69293-AA43-4823-852D-27EB2839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El marcador inicia un flujo configurable y controlado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5A879-1FB3-4C78-A8AF-0184F83C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FF57B-C88A-436D-812B-5889FE4A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24574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B1738-4DE4-4C17-934D-77A78665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B63"/>
          </a:solidFill>
          <a:ln xmlns:a="http://schemas.openxmlformats.org/drawingml/2006/main" w="9525">
            <a:solidFill>
              <a:srgbClr val="183B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29AB8-2A8D-4A52-B1FD-8DE8A93F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37210-7AD6-4002-85EC-0048D536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9425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Reconocer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A26A6-8792-4A17-8954-7608669C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Vuforia detecta el target almacenado en la Device Database.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E9938-D910-48DF-9198-A067EF27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24574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63767-EA5E-49F1-B22E-8B03F9C6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38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9A84"/>
          </a:solidFill>
          <a:ln xmlns:a="http://schemas.openxmlformats.org/drawingml/2006/main" w="9525">
            <a:solidFill>
              <a:srgbClr val="1C9A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03ADE-B6F7-450D-8251-9B158D77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95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4762F-4C6C-4706-BE10-1DAD95D7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19425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Configurar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CC9E3-C876-4D11-9EED-43B5D8AD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9092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El usuario elige Plano/360°, dificultad y modo adaptativo.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EAD93-3983-43A1-A319-3F894B20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24574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3B10D-899F-4087-961B-2744C629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38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315"/>
          </a:solidFill>
          <a:ln xmlns:a="http://schemas.openxmlformats.org/drawingml/2006/main" w="9525">
            <a:solidFill>
              <a:srgbClr val="F0A3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917DE-B111-468C-B7A1-1ECF0D8D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95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9C9D9-0EA7-45EE-AAE9-2C5CAF21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19425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Colocar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52F838-176B-4811-9CCF-4C84AD34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9092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Plano fija el campo; 360° centra un cilindro alrededor del jugador.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CA814-D353-4856-88E8-0E438F88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28850"/>
            <a:ext cx="21526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E7232-2F62-4791-89C8-69D3B9EF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38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3D2F"/>
          </a:solidFill>
          <a:ln xmlns:a="http://schemas.openxmlformats.org/drawingml/2006/main" w="9525">
            <a:solidFill>
              <a:srgbClr val="C63D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DF1A28-289F-49C6-87F1-BD39D6AB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5389F-E340-49DA-BDD1-80264696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1942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Entrenar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2176DF-D9F5-4A78-8039-0D130229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9092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La sesión dura 60 s; el HUD permite disparar o cancelar.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4F7573-DCC2-43F4-B9D2-92325F7A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482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3D2F"/>
          </a:solidFill>
          <a:ln xmlns:a="http://schemas.openxmlformats.org/drawingml/2006/main" w="9525">
            <a:solidFill>
              <a:srgbClr val="C63D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01D5D-2C9F-4A93-8145-F87FF9C1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067" y="5184267"/>
            <a:ext cx="528066" cy="5280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956496-A8A5-4718-87AE-01521D83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528828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3D2F"/>
          </a:solidFill>
          <a:ln xmlns:a="http://schemas.openxmlformats.org/drawingml/2006/main" w="9525">
            <a:solidFill>
              <a:srgbClr val="C63D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13B4CF-5464-45EE-ADEA-B28FE0E3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092" y="5380292"/>
            <a:ext cx="136017" cy="1360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9FDB72-CEB2-47D2-BF9C-0014C1B4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97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La retícula permanece al centro: apuntar exige mover y girar el dispositivo.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E76BBD-CE94-454B-8239-E3E0C028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4983F1-6841-4CFD-91AB-8A8DC845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AIM-AR · Tecnologías Emergentes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D4F24D-2150-4CD4-8735-0AA95A30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8945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9A4542-A9A9-4A7B-B824-4D49FB13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3B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3B63"/>
                </a:solidFill>
                <a:latin typeface="Arial"/>
                <a:ea typeface="Arial"/>
                <a:cs typeface="Arial"/>
              </a:rPr>
              <a:t>MODOS DE ENTRENAMIENTO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A8E1B-CC38-4013-84B0-93D32C21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Plano y 360° organizan el mismo entrenamiento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403B7-A2A7-4ECB-8624-14CA3CF5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59527-F742-43F5-B017-F3C7AF4A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3352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3F76A-80D0-44E2-B517-5E0E6153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3352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63"/>
          </a:solidFill>
          <a:ln xmlns:a="http://schemas.openxmlformats.org/drawingml/2006/main" w="9525">
            <a:solidFill>
              <a:srgbClr val="183B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B0B3C-1644-4BA9-8F61-9E031E95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Plano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C5915-C4DB-44BE-B631-7409C2F1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Campo frontal fijo; una diana solo se reubica tras un acierto.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9AC91-7BCF-41F9-AC5E-908ECA42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352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0ED25-BEE2-4C3A-B791-8DCD62F9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352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4"/>
          </a:solidFill>
          <a:ln xmlns:a="http://schemas.openxmlformats.org/drawingml/2006/main" w="9525">
            <a:solidFill>
              <a:srgbClr val="1C9A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471AD-ADD2-4302-A06E-B5368619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360°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1213F-BC51-410F-8865-0A736A85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242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Cilindro fijo de 2,2 m; la ARCamera recorre el entorno al girar.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17F4A-D4D3-43F1-92CB-4549FE5F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F2B48-3E37-4267-AFD1-E90670E9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315"/>
          </a:solidFill>
          <a:ln xmlns:a="http://schemas.openxmlformats.org/drawingml/2006/main" w="9525">
            <a:solidFill>
              <a:srgbClr val="F0A3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9352C-788B-4BA1-8380-C6CA08D5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Dificultad + adaptación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7B61D-8BED-4C38-990F-EC3F1878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242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Tres niveles cambian tamaño y velocidad; el adaptativo ajusta la escala.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85C08-6E37-481C-A349-88DDD4CD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D1CAD-2E22-4F6A-9713-8E6EB82B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Flechas guían fuera de cámara; la separación angular evita cruces frecuentes.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9726C-A9B0-464E-A031-99ED2730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BA3A4-44AB-49D4-A5D3-09E1129D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AIM-AR · Tecnologías Emergentes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CCF41-B965-404B-839F-B36D8D39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17488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EC8164-0AE3-4BC8-AEDD-447244A5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3B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3B63"/>
                </a:solidFill>
                <a:latin typeface="Arial"/>
                <a:ea typeface="Arial"/>
                <a:cs typeface="Arial"/>
              </a:rPr>
              <a:t>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0A3F6-64BE-4600-8F07-F0716080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El impacto prioriza la diana visualmente más cercana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4C3AF-3CB0-4EAC-A08E-74AD0099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59BA9-31C0-4142-9D1C-3ADC52AF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866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5F95F-85A5-4B35-81D0-9FC1F969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8669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63"/>
          </a:solidFill>
          <a:ln xmlns:a="http://schemas.openxmlformats.org/drawingml/2006/main" w="9525">
            <a:solidFill>
              <a:srgbClr val="183B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30B77-AFA1-411A-B68E-103A18D7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Vuforia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38C6B-383A-4B9A-BB38-9F84F978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La Device Database reconoce el target impreso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B67F5-537A-4EC0-8D37-E6578F12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242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1093A-9AE1-4F82-A630-A55173CD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866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C3433-3DF0-4E7D-B778-7DE687EA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8669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A84"/>
          </a:solidFill>
          <a:ln xmlns:a="http://schemas.openxmlformats.org/drawingml/2006/main" w="9525">
            <a:solidFill>
              <a:srgbClr val="1C9A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0EAA9-C51F-49C3-95AD-242DBF95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857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COLOCAR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8A27A-4E3C-4705-8A78-36B6F8B8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3528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GameManager fija o recentra ARContent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17320-A904-47BE-B82A-EE1C18C1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242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79F9E-88C4-4DEA-B982-A580AEBA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76500"/>
            <a:ext cx="1866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4F59D-DC60-404B-8AB0-018CB7CA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76500"/>
            <a:ext cx="18669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315"/>
          </a:solidFill>
          <a:ln xmlns:a="http://schemas.openxmlformats.org/drawingml/2006/main" w="9525">
            <a:solidFill>
              <a:srgbClr val="F0A3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F2714-49C5-43A0-97BB-B43DEA9C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FUEGO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4875BD-55D7-48CB-A412-4DA914C5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528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RaycastAll desde ARCamera, ordenado por distancia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10028-080B-4DF4-B8DC-593C6E15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242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ABC3C-6D7A-4726-BDB4-3D780386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76500"/>
            <a:ext cx="1866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7771C-D317-4AA8-AA1F-4B5EEBB4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76500"/>
            <a:ext cx="18669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3D2F"/>
          </a:solidFill>
          <a:ln xmlns:a="http://schemas.openxmlformats.org/drawingml/2006/main" w="9525">
            <a:solidFill>
              <a:srgbClr val="C63D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20C77-1C08-40CD-93C2-A7252F3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57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5D107B-1D65-4236-9478-18717729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3528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Valida impacto, centro, reacción y feedback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E1102-5081-4ABF-B89B-01772443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242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58477F-D5EB-4FD0-9F39-1207DE6A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76500"/>
            <a:ext cx="1866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3DB4CF-5579-4E85-BCAD-30473A75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76500"/>
            <a:ext cx="18669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63"/>
          </a:solidFill>
          <a:ln xmlns:a="http://schemas.openxmlformats.org/drawingml/2006/main" w="9525">
            <a:solidFill>
              <a:srgbClr val="183B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F4E303-7351-452A-A985-34222D5C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Game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Manager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FF588F-D555-4CD5-9C04-0D7A0D74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528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Actualiza métricas y guarda récords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BCDD23-1C65-4388-824F-8134BCBF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56B251-2FC6-4B53-BB9C-463E6ADD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1530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B2D"/>
                </a:solidFill>
                <a:latin typeface="Arial"/>
                <a:ea typeface="Arial"/>
                <a:cs typeface="Arial"/>
              </a:rPr>
              <a:t>Los colliders detectan; RaycastAll + LayerMask Target mantienen una sola fuente de verdad.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F6C913-8EF6-477B-9535-6AB896D7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325DD3-B3B8-4274-8C46-7F2DEB5F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AIM-AR · Tecnologías Emergentes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D7BE95-A8E0-4655-AFD8-F2452DF5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7522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5A8D75-EF64-41B3-88B5-0846698F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3B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3B63"/>
                </a:solidFill>
                <a:latin typeface="Arial"/>
                <a:ea typeface="Arial"/>
                <a:cs typeface="Arial"/>
              </a:rPr>
              <a:t>DEMOSTRACIÓN EN 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7B53B-B871-4889-8CD9-B0D16C3A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La demo verificará ambos modos y el ciclo completo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5F039-0CDA-4A02-9755-CE852EA1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25BEB-942C-47D7-85A5-EBCD7B7D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2F475-119E-4CEA-8EED-A5946629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Hub +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E9CE4-D60C-400C-A8CE-A097C334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384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Menú principal y reconocimiento de aimar.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E0285-4B71-4909-8942-3C7BDED5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8B913-0289-405A-802F-744C538B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F10B3-49E9-4CB2-B776-60BDE17F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003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Plano + adaptativo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DD242-42BE-4E99-A69D-BDB0F9EF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432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Dificultad, escala dinámica y tres dianas.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EC02F-A12F-4376-AED5-E9E46AF8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138EE-C5C3-4615-B284-9B20692B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7D9D4-0B63-4A90-89F5-DEC45470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05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Acierto + fallo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93FE5-B06E-4207-8995-9A1753BB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48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El acierto reubica; el fallo no mueve dianas.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F3DCA-3E4B-41CD-B367-674E4D9F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F3E89-177B-4415-9ECD-C4BA164B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A58B3-D284-4A3C-80C3-13B7BB7E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10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Modo 360°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0261F-4D3B-4801-85FF-1A2F7FC3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530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Cilindro fijo, giro natural y flechas.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7E8A9-D93E-440B-9F73-5CC065CE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7D94C-D9B3-4C8E-BBA4-05795865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19300"/>
            <a:ext cx="504825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E2A3F-9262-408B-B696-ECCD8F58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62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3B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3B63"/>
                </a:solidFill>
                <a:latin typeface="Arial"/>
                <a:ea typeface="Arial"/>
                <a:cs typeface="Arial"/>
              </a:rPr>
              <a:t>EVIDENCIA FINAL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1FF379-1B01-43FF-81F2-30F7B075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90825"/>
            <a:ext cx="3810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B2D"/>
                </a:solidFill>
                <a:latin typeface="Arial"/>
                <a:ea typeface="Arial"/>
                <a:cs typeface="Arial"/>
              </a:rPr>
              <a:t>• Hub, Setup y target aimar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B2D"/>
                </a:solidFill>
                <a:latin typeface="Arial"/>
                <a:ea typeface="Arial"/>
                <a:cs typeface="Arial"/>
              </a:rPr>
              <a:t>• Plano + adaptación opcional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B2D"/>
                </a:solidFill>
                <a:latin typeface="Arial"/>
                <a:ea typeface="Arial"/>
                <a:cs typeface="Arial"/>
              </a:rPr>
              <a:t>• RaycastAll y prioridad por distancia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B2D"/>
                </a:solidFill>
                <a:latin typeface="Arial"/>
                <a:ea typeface="Arial"/>
                <a:cs typeface="Arial"/>
              </a:rPr>
              <a:t>• Cilindro 360° + indicadores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B2D"/>
                </a:solidFill>
                <a:latin typeface="Arial"/>
                <a:ea typeface="Arial"/>
                <a:cs typeface="Arial"/>
              </a:rPr>
              <a:t>• Métricas, CANCELAR y récord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7726A-127C-46D8-A9D0-4B71205D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La aplicación será el foco: funcionamiento visible, explicación breve y cero datos sensibles.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5A34B9-16F9-4D4E-A2BA-4F5C82EE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D5C852-B3BE-4F45-A397-C72E43E2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AIM-AR · Tecnologías Emergentes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CF98D-005E-47FF-B193-705DC276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5237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9A4542-A9A9-4A7B-B824-4D49FB13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3B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3B63"/>
                </a:solidFill>
                <a:latin typeface="Arial"/>
                <a:ea typeface="Arial"/>
                <a:cs typeface="Arial"/>
              </a:rPr>
              <a:t>RESULTADOS Y FEEDBACK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A8E1B-CC38-4013-84B0-93D32C21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Cada sesión termina con métricas comparables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403B7-A2A7-4ECB-8624-14CA3CF5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59527-F742-43F5-B017-F3C7AF4A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3352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3F76A-80D0-44E2-B517-5E0E6153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3352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63"/>
          </a:solidFill>
          <a:ln xmlns:a="http://schemas.openxmlformats.org/drawingml/2006/main" w="9525">
            <a:solidFill>
              <a:srgbClr val="183B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B0B3C-1644-4BA9-8F61-9E031E95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Desempeño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C5915-C4DB-44BE-B631-7409C2F1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Puntaje, impactos, intentos, precisión y mejor racha.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9AC91-7BCF-41F9-AC5E-908ECA42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352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0ED25-BEE2-4C3A-B791-8DCD62F9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352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4"/>
          </a:solidFill>
          <a:ln xmlns:a="http://schemas.openxmlformats.org/drawingml/2006/main" w="9525">
            <a:solidFill>
              <a:srgbClr val="1C9A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471AD-ADD2-4302-A06E-B5368619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Reacción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1213F-BC51-410F-8865-0A736A85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242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Tiempo promedio desde la aparición hasta el impacto.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17F4A-D4D3-43F1-92CB-4549FE5F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F2B48-3E37-4267-AFD1-E90670E9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315"/>
          </a:solidFill>
          <a:ln xmlns:a="http://schemas.openxmlformats.org/drawingml/2006/main" w="9525">
            <a:solidFill>
              <a:srgbClr val="F0A3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9352C-788B-4BA1-8380-C6CA08D5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Persistencia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7B61D-8BED-4C38-990F-EC3F1878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242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PlayerPrefs conserva puntaje, precisión, reacción y racha.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85C08-6E37-481C-A349-88DDD4CD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D1CAD-2E22-4F6A-9713-8E6EB82B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Color, escala, partículas y sonido confirman el impacto; un fallo no reubica.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9726C-A9B0-464E-A031-99ED2730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BA3A4-44AB-49D4-A5D3-09E1129D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AIM-AR · Tecnologías Emergentes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CCF41-B965-404B-839F-B36D8D39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7488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9A4542-A9A9-4A7B-B824-4D49FB13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3B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3B63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A8E1B-CC38-4013-84B0-93D32C21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AIM-AR completa el ciclo técnico propuesto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403B7-A2A7-4ECB-8624-14CA3CF5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59527-F742-43F5-B017-F3C7AF4A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3352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3F76A-80D0-44E2-B517-5E0E6153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3352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63"/>
          </a:solidFill>
          <a:ln xmlns:a="http://schemas.openxmlformats.org/drawingml/2006/main" w="9525">
            <a:solidFill>
              <a:srgbClr val="183B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B0B3C-1644-4BA9-8F61-9E031E95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Realidad aumentada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C5915-C4DB-44BE-B631-7409C2F1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Vuforia reconoce el marcador y permite colocar el campo.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9AC91-7BCF-41F9-AC5E-908ECA42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352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0ED25-BEE2-4C3A-B791-8DCD62F9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352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84"/>
          </a:solidFill>
          <a:ln xmlns:a="http://schemas.openxmlformats.org/drawingml/2006/main" w="9525">
            <a:solidFill>
              <a:srgbClr val="1C9A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471AD-ADD2-4302-A06E-B5368619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Entrenamiento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1213F-BC51-410F-8865-0A736A85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242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Plano, cilindro 360°, adaptación y tres dificultades.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17F4A-D4D3-43F1-92CB-4549FE5F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F2B48-3E37-4267-AFD1-E90670E9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3352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315"/>
          </a:solidFill>
          <a:ln xmlns:a="http://schemas.openxmlformats.org/drawingml/2006/main" w="9525">
            <a:solidFill>
              <a:srgbClr val="F0A3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9352C-788B-4BA1-8380-C6CA08D5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Medición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7B61D-8BED-4C38-990F-EC3F1878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242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Métricas, récord histórico y feedback audiovisual.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85C08-6E37-481C-A349-88DDD4CD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D1CAD-2E22-4F6A-9713-8E6EB82B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B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B2D"/>
                </a:solidFill>
                <a:latin typeface="Arial"/>
                <a:ea typeface="Arial"/>
                <a:cs typeface="Arial"/>
              </a:rPr>
              <a:t>Arquitectura verificable: Vuforia → configuración → RaycastAll → feedback → métricas.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9726C-A9B0-464E-A031-99ED2730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BA3A4-44AB-49D4-A5D3-09E1129D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AIM-AR · Tecnologías Emergentes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CCF41-B965-404B-839F-B36D8D39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17488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2026-08-20T00:22:35.0500000Z</dcterms:created>
  <dcterms:modified xsi:type="dcterms:W3CDTF">2026-08-20T00:22:35.0500000Z</dcterms:modified>
</coreProperties>
</file>